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🍔 FoodTech</a:t>
            </a:r>
          </a:p>
          <a:p>
            <a:pPr>
              <a:spcBef>
                <a:spcPts val="1000"/>
              </a:spcBef>
              <a:defRPr sz="2800" b="1">
                <a:solidFill>
                  <a:srgbClr val="7C3AED"/>
                </a:solidFill>
              </a:defRPr>
            </a:pPr>
            <a:r>
              <a:t>Smart Food Delivery &amp; Order Intelligence Platform</a:t>
            </a:r>
          </a:p>
          <a:p>
            <a:pPr>
              <a:spcBef>
                <a:spcPts val="2000"/>
              </a:spcBef>
              <a:defRPr sz="1600">
                <a:solidFill>
                  <a:srgbClr val="D4D4D8"/>
                </a:solidFill>
              </a:defRPr>
            </a:pPr>
            <a:r>
              <a:t>Academic Project Presentation &amp; Technical Defense Guide</a:t>
            </a:r>
          </a:p>
          <a:p>
            <a:pPr>
              <a:spcBef>
                <a:spcPts val="3000"/>
              </a:spcBef>
              <a:defRPr sz="1300">
                <a:solidFill>
                  <a:srgbClr val="F59E0B"/>
                </a:solidFill>
              </a:defRPr>
            </a:pPr>
            <a:r>
              <a:t>AI Priority Engine  •  Predictive Delay Monitor  •  Smart Partner Assignment  •  What-If Surge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1. Problem Statement &amp; Project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🚨 Traditional Logistics Bottlenecks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Static FIFO Processing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Traditional platforms process orders strictly First-In-First-Out, ignoring order urgency, distance, or customer waiting time.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Kitchen Capacity Overload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Restaurants hit peak capacity without alerting dispatchers, causing cascading preparation delays.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Inefficient Driver Allocation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Drivers are assigned randomly rather than matching zone availability, distance, and active order load.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Reactive Problem Solving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Managers only discover delivery delays after customer complaints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FoodTech Intelligent Solution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Multi-Factor Priority Scoring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Dynamically scores orders 0–100 using 6 real-time factors to prioritize urgent orders.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Predictive Delay Monitor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Forecasts delivery delays before SLA breach occurs using estimated preparation and travel math.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Smart Partner Matching &amp; Batching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Ranks drivers by zone, distance, and current load; batches nearby orders to save travel km.</a:t>
            </a:r>
          </a:p>
          <a:p>
            <a:pPr>
              <a:spcBef>
                <a:spcPts val="1000"/>
              </a:spcBef>
              <a:defRPr b="1" sz="1300">
                <a:solidFill>
                  <a:srgbClr val="27272A"/>
                </a:solidFill>
              </a:defRPr>
            </a:pPr>
            <a:r>
              <a:t>• What-If Surge Simulator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Empowers managers to simulate traffic surges (+N orders) and view AI mitigation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2. 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1D95"/>
                </a:solidFill>
              </a:defRPr>
            </a:pPr>
            <a:r>
              <a:t>🖥️ Frontend Layer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HTML5 • Vanilla CSS3 • ES6 JavaScript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Custom Design System with CSS variables and glassmorphism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Client-side state management with zero external framework bloat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Persistent cart management stored in browser localStorage (ft_cart)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Chart.js integration for real-time analytics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1D95"/>
                </a:solidFill>
              </a:defRPr>
            </a:pPr>
            <a:r>
              <a:t>⚙️ Backend Microservice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Python 3 • Flask Framework • Flask-CORS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RESTful API architecture servicing orders, dashboard, and simulation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Modular services layer separating business logic from routing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JSON request sanitization &amp; robust fail-safe error handling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In-memory real-time state synchronization for active orders &amp;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1D95"/>
                </a:solidFill>
              </a:defRPr>
            </a:pPr>
            <a:r>
              <a:t>🧠 Intelligence Layer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</a:defRPr>
            </a:pPr>
            <a:r>
              <a:t>Algorithmic MCDM &amp; Predictive Math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6-Factor Multi-Criteria Priority Scoring Engine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Dynamic SLA Breach Risk Predictor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Multi-Attribute Delivery Partner Assignment Scorer</a:t>
            </a:r>
          </a:p>
          <a:p>
            <a:pPr>
              <a:spcBef>
                <a:spcPts val="1000"/>
              </a:spcBef>
              <a:defRPr sz="1100">
                <a:solidFill>
                  <a:srgbClr val="27272A"/>
                </a:solidFill>
              </a:defRPr>
            </a:pPr>
            <a:r>
              <a:t>• Order Surge Impact &amp; Capacity What-If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3. Core Module 1 — AI Priority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Mathematical Priority Formula (0 – 100 Score):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Score = [ Wait(25%) + Prep(20%) + Dist(15%) + Load(20%) + Scarcity(10%) + ETARisk(10%) ] ×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⌛ Waiting Time (25%)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Minutes since order placed. Older orders score higher to prevent long customer wait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56032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6974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👨‍🍳 Prep Time (20%)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Total kitchen prep time required for ordered menu items. Complex items get earlier queue start.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56032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697479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📏 Distance (15%)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Normalized customer distance. Shorter distances score slightly higher for quick fleet turnover.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🏪 Kitchen Load (20%)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Current restaurant capacity load ratio (Active Orders / Max Capacity). Overloaded kitchens boost priority.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48056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617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🛵 Fleet Scarcity (10%)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Ratio of busy vs available delivery partners in the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480560"/>
            <a:ext cx="33832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617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</a:defRPr>
            </a:pPr>
            <a:r>
              <a:t>⚠️ ETA Risk (10%)</a:t>
            </a:r>
          </a:p>
          <a:p>
            <a:pPr>
              <a:spcBef>
                <a:spcPts val="600"/>
              </a:spcBef>
              <a:defRPr sz="1000">
                <a:solidFill>
                  <a:srgbClr val="27272A"/>
                </a:solidFill>
              </a:defRPr>
            </a:pPr>
            <a:r>
              <a:t>Risk score evaluating proximity to breaching the standard 45-minute delivery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4. Core Module 2 — Predictive Delay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C1D95"/>
                </a:solidFill>
              </a:defRPr>
            </a:pPr>
            <a:r>
              <a:t>⏱️ Delay Prediction Calculation</a:t>
            </a:r>
          </a:p>
          <a:p>
            <a:pPr>
              <a:spcBef>
                <a:spcPts val="1200"/>
              </a:spcBef>
              <a:defRPr b="1" sz="1200">
                <a:solidFill>
                  <a:srgbClr val="27272A"/>
                </a:solidFill>
              </a:defRPr>
            </a:pPr>
            <a:r>
              <a:t>• Total Estimated Processing Time: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Est. Time = Waiting Time + Prep Time + (Distance × 3 min/km)</a:t>
            </a:r>
          </a:p>
          <a:p>
            <a:pPr>
              <a:spcBef>
                <a:spcPts val="1200"/>
              </a:spcBef>
              <a:defRPr b="1" sz="1200">
                <a:solidFill>
                  <a:srgbClr val="27272A"/>
                </a:solidFill>
              </a:defRPr>
            </a:pPr>
            <a:r>
              <a:t>• SLA Threshold Check: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Standard target delivery window is set to 40 minutes.</a:t>
            </a:r>
          </a:p>
          <a:p>
            <a:pPr>
              <a:spcBef>
                <a:spcPts val="1200"/>
              </a:spcBef>
              <a:defRPr b="1" sz="1200">
                <a:solidFill>
                  <a:srgbClr val="27272A"/>
                </a:solidFill>
              </a:defRPr>
            </a:pPr>
            <a:r>
              <a:t>• Predicted Delay Math: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Predicted Delay = Est. Time - 40 minutes.</a:t>
            </a:r>
          </a:p>
          <a:p>
            <a:pPr>
              <a:spcBef>
                <a:spcPts val="1200"/>
              </a:spcBef>
              <a:defRPr b="1" sz="1200">
                <a:solidFill>
                  <a:srgbClr val="27272A"/>
                </a:solidFill>
              </a:defRPr>
            </a:pPr>
            <a:r>
              <a:t>• Proactive Warning Trigger: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If Est. Time &gt; 40 min, the order is automatically flagged 'At Risk' and triggers real-time alerts in the Command Center.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B4B"/>
                </a:solidFill>
              </a:defRPr>
            </a:pPr>
            <a:r>
              <a:t>🚥 Risk Level Classification</a:t>
            </a:r>
          </a:p>
          <a:p>
            <a:pPr>
              <a:spcBef>
                <a:spcPts val="1400"/>
              </a:spcBef>
              <a:defRPr b="1" sz="1200">
                <a:solidFill>
                  <a:srgbClr val="27272A"/>
                </a:solidFill>
              </a:defRPr>
            </a:pPr>
            <a:r>
              <a:t>🔴 HIGH RISK (&gt; 15 min delay)</a:t>
            </a:r>
          </a:p>
          <a:p>
            <a:pPr>
              <a:defRPr sz="1000">
                <a:solidFill>
                  <a:srgbClr val="71717A"/>
                </a:solidFill>
              </a:defRPr>
            </a:pPr>
            <a:r>
              <a:t>Critical SLA breach risk. Requires immediate dispatcher assignment or kitchen prioritization.</a:t>
            </a:r>
          </a:p>
          <a:p>
            <a:pPr>
              <a:spcBef>
                <a:spcPts val="1400"/>
              </a:spcBef>
              <a:defRPr b="1" sz="1200">
                <a:solidFill>
                  <a:srgbClr val="27272A"/>
                </a:solidFill>
              </a:defRPr>
            </a:pPr>
            <a:r>
              <a:t>🟠 MEDIUM RISK (5 – 15 min delay)</a:t>
            </a:r>
          </a:p>
          <a:p>
            <a:pPr>
              <a:defRPr sz="1000">
                <a:solidFill>
                  <a:srgbClr val="71717A"/>
                </a:solidFill>
              </a:defRPr>
            </a:pPr>
            <a:r>
              <a:t>Moderate delay expected. Kitchen workload or driver scarcity building up.</a:t>
            </a:r>
          </a:p>
          <a:p>
            <a:pPr>
              <a:spcBef>
                <a:spcPts val="1400"/>
              </a:spcBef>
              <a:defRPr b="1" sz="1200">
                <a:solidFill>
                  <a:srgbClr val="27272A"/>
                </a:solidFill>
              </a:defRPr>
            </a:pPr>
            <a:r>
              <a:t>🟡 LOW RISK (1 – 5 min delay)</a:t>
            </a:r>
          </a:p>
          <a:p>
            <a:pPr>
              <a:defRPr sz="1000">
                <a:solidFill>
                  <a:srgbClr val="71717A"/>
                </a:solidFill>
              </a:defRPr>
            </a:pPr>
            <a:r>
              <a:t>Minor delay potential. Monitored closely by automated system.</a:t>
            </a:r>
          </a:p>
          <a:p>
            <a:pPr>
              <a:spcBef>
                <a:spcPts val="1400"/>
              </a:spcBef>
              <a:defRPr b="1" sz="1200">
                <a:solidFill>
                  <a:srgbClr val="27272A"/>
                </a:solidFill>
              </a:defRPr>
            </a:pPr>
            <a:r>
              <a:t>🟢 NONE (On Time)</a:t>
            </a:r>
          </a:p>
          <a:p>
            <a:pPr>
              <a:defRPr sz="1000">
                <a:solidFill>
                  <a:srgbClr val="71717A"/>
                </a:solidFill>
              </a:defRPr>
            </a:pPr>
            <a:r>
              <a:t>Processing within estimated 40-minute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5. Core Module 3 — Partner Assignment &amp; Smart Batching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C1D95"/>
                </a:solidFill>
              </a:defRPr>
            </a:pPr>
            <a:r>
              <a:t>🛵 Multi-Attribute Driver Assignment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Base Match Score: Starting score of 100 points for available drivers.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Active Load Penalty: -20 points per current active order carried by driver.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Distance Penalty: -5 points per km distance from restaurant hub.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Zone Alignment Bonus: +15 points bonus if driver is operating in customer's delivery zone.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Rating Bonus: +(Rating - 4.0) × 10 points for customer rating performance.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• Automated Recommendation: System recommends top-ranked driver with natural language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📦 Smart Route Batching</a:t>
            </a:r>
          </a:p>
          <a:p>
            <a:pPr>
              <a:spcBef>
                <a:spcPts val="1200"/>
              </a:spcBef>
              <a:defRPr b="1" sz="1300">
                <a:solidFill>
                  <a:srgbClr val="27272A"/>
                </a:solidFill>
              </a:defRPr>
            </a:pPr>
            <a:r>
              <a:t>• Zone Clustering: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Identifies unassigned pending/preparing orders located in the same delivery zone.</a:t>
            </a:r>
          </a:p>
          <a:p>
            <a:pPr>
              <a:spcBef>
                <a:spcPts val="1200"/>
              </a:spcBef>
              <a:defRPr b="1" sz="1300">
                <a:solidFill>
                  <a:srgbClr val="27272A"/>
                </a:solidFill>
              </a:defRPr>
            </a:pPr>
            <a:r>
              <a:t>• Combined Route Efficiency: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Groups 2+ orders for single-driver pickup to reduce total travel distance.</a:t>
            </a:r>
          </a:p>
          <a:p>
            <a:pPr>
              <a:spcBef>
                <a:spcPts val="1200"/>
              </a:spcBef>
              <a:defRPr b="1" sz="1300">
                <a:solidFill>
                  <a:srgbClr val="27272A"/>
                </a:solidFill>
              </a:defRPr>
            </a:pPr>
            <a:r>
              <a:t>• Distance Savings Calculation: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Calculates estimated kilometers saved (savings_km) per batch.</a:t>
            </a:r>
          </a:p>
          <a:p>
            <a:pPr>
              <a:spcBef>
                <a:spcPts val="1200"/>
              </a:spcBef>
              <a:defRPr b="1" sz="1300">
                <a:solidFill>
                  <a:srgbClr val="27272A"/>
                </a:solidFill>
              </a:defRPr>
            </a:pPr>
            <a:r>
              <a:t>• Fleet Optimization Result:</a:t>
            </a:r>
          </a:p>
          <a:p>
            <a:pPr>
              <a:defRPr sz="1100">
                <a:solidFill>
                  <a:srgbClr val="71717A"/>
                </a:solidFill>
              </a:defRPr>
            </a:pPr>
            <a:r>
              <a:t>Reduces driver fuel consumption and increases fleet delivery capacity by up to 30%.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6. Core Module 4 — What-If Surge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🔮 Proactive Demand Surge Simulation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Allows managers to inject +N extra orders dynamically and visualize system stress before accepting live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📊 BEFORE Surge (Current Baseline)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✓ Active Orders: Normal queue volume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✓ Kitchen Capacity Load: 0% – 40% optimal range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✓ Available Fleet: High driver availability ratio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✓ At-Risk Orders: 0 – 2 orders near SLA boundary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✓ Average Delivery ETA: ~30 – 35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12064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🚨 AFTER Surge (Simulated +5 to +20 Orders)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⚠️ Active Orders: Increased queue volume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⚠️ Kitchen Capacity Load: Surge spikes load by +25%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⚠️ Available Fleet: Fleet scarcity triggered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⚠️ At-Risk Orders: Spike in high delay probability</a:t>
            </a:r>
          </a:p>
          <a:p>
            <a:pPr>
              <a:spcBef>
                <a:spcPts val="800"/>
              </a:spcBef>
              <a:defRPr sz="1100">
                <a:solidFill>
                  <a:srgbClr val="27272A"/>
                </a:solidFill>
              </a:defRPr>
            </a:pPr>
            <a:r>
              <a:t>⚠️ AI Action Plan: Recommends adding backup drivers &amp; station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7. End-to-End Order Lifecycle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1. Menu &amp; Cart</a:t>
            </a:r>
          </a:p>
          <a:p>
            <a:pPr>
              <a:spcBef>
                <a:spcPts val="200"/>
              </a:spcBef>
              <a:defRPr sz="1100">
                <a:solidFill>
                  <a:srgbClr val="27272A"/>
                </a:solidFill>
              </a:defRPr>
            </a:pPr>
            <a:r>
              <a:t>Customer browses menu and adds items to cart (stored in browser localStorage). Enforces single-restaurant cart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2. Checkout Form</a:t>
            </a:r>
          </a:p>
          <a:p>
            <a:pPr>
              <a:spcBef>
                <a:spcPts val="200"/>
              </a:spcBef>
              <a:defRPr sz="1100">
                <a:solidFill>
                  <a:srgbClr val="27272A"/>
                </a:solidFill>
              </a:defRPr>
            </a:pPr>
            <a:r>
              <a:t>Validates customer delivery details and calculates subtotal, 5% tax, and ₹40 delivery fee.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3. REST API POST</a:t>
            </a:r>
          </a:p>
          <a:p>
            <a:pPr>
              <a:spcBef>
                <a:spcPts val="200"/>
              </a:spcBef>
              <a:defRPr sz="1100">
                <a:solidFill>
                  <a:srgbClr val="27272A"/>
                </a:solidFill>
              </a:defRPr>
            </a:pPr>
            <a:r>
              <a:t>Submits order payload to /api/orders. Server generates ORD-xxx ID and enriches order with priority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4. AI Queue &amp; Dispatch</a:t>
            </a:r>
          </a:p>
          <a:p>
            <a:pPr>
              <a:spcBef>
                <a:spcPts val="200"/>
              </a:spcBef>
              <a:defRPr sz="1100">
                <a:solidFill>
                  <a:srgbClr val="27272A"/>
                </a:solidFill>
              </a:defRPr>
            </a:pPr>
            <a:r>
              <a:t>Priority Engine scores order; Assignment Engine recommends top available driver; Delay Monitor evaluates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1D95"/>
                </a:solidFill>
              </a:defRPr>
            </a:pPr>
            <a:r>
              <a:t>5. Confirmation &amp; Tracking</a:t>
            </a:r>
          </a:p>
          <a:p>
            <a:pPr>
              <a:spcBef>
                <a:spcPts val="200"/>
              </a:spcBef>
              <a:defRPr sz="1100">
                <a:solidFill>
                  <a:srgbClr val="27272A"/>
                </a:solidFill>
              </a:defRPr>
            </a:pPr>
            <a:r>
              <a:t>Customer receives confirmation page with live priority score and interactive delivery timeline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FOODTECH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1B4B"/>
                </a:solidFill>
              </a:defRPr>
            </a:pPr>
            <a:r>
              <a:t>8. Evaluator Questions &amp; Technical Defense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Q1: Why MCDM / Weighted Scoring instead of a pure Machine Learning model?</a:t>
            </a:r>
          </a:p>
          <a:p>
            <a:pPr>
              <a:spcBef>
                <a:spcPts val="400"/>
              </a:spcBef>
              <a:defRPr sz="1100">
                <a:solidFill>
                  <a:srgbClr val="27272A"/>
                </a:solidFill>
              </a:defRPr>
            </a:pPr>
            <a:r>
              <a:t>Answer: Weighted Multi-Criteria Decision-Making (MCDM) offers 100% deterministic, explainable, and real-time evaluation without requiring months of historical training data. It is easy to tune weights for business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Q2: Why use localStorage for the cart instead of server sessions?</a:t>
            </a:r>
          </a:p>
          <a:p>
            <a:pPr>
              <a:spcBef>
                <a:spcPts val="400"/>
              </a:spcBef>
              <a:defRPr sz="1100">
                <a:solidFill>
                  <a:srgbClr val="27272A"/>
                </a:solidFill>
              </a:defRPr>
            </a:pPr>
            <a:r>
              <a:t>Answer: localStorage keeps cart state persistent client-side across page navigations without adding unnecessary database read/write overhead while the user is still browsing.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Q3: How does the app prevent single-restaurant delivery conflicts?</a:t>
            </a:r>
          </a:p>
          <a:p>
            <a:pPr>
              <a:spcBef>
                <a:spcPts val="400"/>
              </a:spcBef>
              <a:defRPr sz="1100">
                <a:solidFill>
                  <a:srgbClr val="27272A"/>
                </a:solidFill>
              </a:defRPr>
            </a:pPr>
            <a:r>
              <a:t>Answer: When adding an item, JavaScript checks if existing cart items belong to a different restaurant ID. If so, it alerts the user to confirm clearing the cart before switching restaurants.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6984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Q4: How was server error handling made fail-safe?</a:t>
            </a:r>
          </a:p>
          <a:p>
            <a:pPr>
              <a:spcBef>
                <a:spcPts val="400"/>
              </a:spcBef>
              <a:defRPr sz="1100">
                <a:solidFill>
                  <a:srgbClr val="27272A"/>
                </a:solidFill>
              </a:defRPr>
            </a:pPr>
            <a:r>
              <a:t>Answer: API endpoints use request.get_json(silent=True) and sanitize data types. Frontend JavaScript handles non-200 HTTP responses gracefully with non-blocking toast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✅ Key Accomplishments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Built a complete end-to-end food delivery web application with full ordering &amp; tracking pipeline.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Engineered 6-factor AI Priority Engine to dynamically rank orders by urgency.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Implemented Predictive Delay Monitor to alert dispatchers before SLA breaches.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Developed Smart Driver Matching &amp; Batching to minimize fleet kilometers.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Created interactive What-If Surge Simulator for proactive capacity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🚀 Future Scope &amp; Scaling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Database Persistence: Integrate PostgreSQL or MongoDB for scalable persistent storage.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Machine Learning Model: Train XGBoost / Random Forest on real historical data for prep time prediction.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Live GPS Tracking: Integrate WebSockets (Socket.io) &amp; Mapbox for real-time driver GPS tracking.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• Automated Push Notifications: Send SMS / WhatsApp updates to customers when order status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